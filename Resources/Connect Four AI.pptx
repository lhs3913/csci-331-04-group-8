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Urbanist"/>
      <p:regular r:id="rId20"/>
      <p:bold r:id="rId21"/>
      <p:italic r:id="rId22"/>
      <p:boldItalic r:id="rId23"/>
    </p:embeddedFont>
    <p:embeddedFont>
      <p:font typeface="JetBrains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regular.fntdata"/><Relationship Id="rId22" Type="http://schemas.openxmlformats.org/officeDocument/2006/relationships/font" Target="fonts/Urbanist-italic.fntdata"/><Relationship Id="rId21" Type="http://schemas.openxmlformats.org/officeDocument/2006/relationships/font" Target="fonts/Urbanist-bold.fntdata"/><Relationship Id="rId24" Type="http://schemas.openxmlformats.org/officeDocument/2006/relationships/font" Target="fonts/JetBrainsMono-regular.fntdata"/><Relationship Id="rId23" Type="http://schemas.openxmlformats.org/officeDocument/2006/relationships/font" Target="fonts/Urbanis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etBrainsMono-italic.fntdata"/><Relationship Id="rId25" Type="http://schemas.openxmlformats.org/officeDocument/2006/relationships/font" Target="fonts/JetBrainsMono-bold.fntdata"/><Relationship Id="rId27" Type="http://schemas.openxmlformats.org/officeDocument/2006/relationships/font" Target="fonts/JetBrains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matthew</a:t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Matthew</a:t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Luke</a:t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Luke</a:t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Luke</a:t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d1e449d2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Luke</a:t>
            </a:r>
            <a:endParaRPr/>
          </a:p>
        </p:txBody>
      </p:sp>
      <p:sp>
        <p:nvSpPr>
          <p:cNvPr id="192" name="Google Shape;192;g3ad1e449d26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d1e449d26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Matthew</a:t>
            </a:r>
            <a:endParaRPr/>
          </a:p>
        </p:txBody>
      </p:sp>
      <p:sp>
        <p:nvSpPr>
          <p:cNvPr id="201" name="Google Shape;201;g3ad1e449d26_3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Matthew</a:t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845593" y="2400300"/>
            <a:ext cx="6500812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CONNECT FOUR AI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00375" y="3409950"/>
            <a:ext cx="6191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Implementation &amp; Performance Analysis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951300" y="4024900"/>
            <a:ext cx="428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Luke Sims, Om Malkan, Matthew Ayala</a:t>
            </a:r>
            <a:endParaRPr sz="20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379600" y="6365400"/>
            <a:ext cx="681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CSCI.331   |   Rochester Institute of Technology   |   Group 8   |   November 25, 2025</a:t>
            </a:r>
            <a:endParaRPr sz="15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09812"/>
            <a:ext cx="52292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81025" y="2586037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Connect Four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is a two-player connection board game, in which the players take turns dropping colored discs from the top into a seven-column, six-row vertically suspended grid.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319337"/>
            <a:ext cx="521017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62025" y="3652837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Goal: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Connect four of one's own discs of the same color next to each other vertically, horizontally, or diagonally.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4452937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Nature: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It is a zero-sum, perfect information game, making it an ideal candidate for adversarial search algorithms.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70046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500562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GAME OBJECTIVE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81025" y="3190875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THE CHALLENGE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81025" y="3705225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 implement an AI agent capable of playing Connect Four at a competitive level, balancing search depth with execution time constraints.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381750" y="2983259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OUR HYPOTHESIS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381750" y="3497609"/>
            <a:ext cx="5229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 hypothesize that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Alpha-Beta Pruning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algorithm will significantly outperform the standard </a:t>
            </a:r>
            <a:r>
              <a:rPr b="1"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MinMax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algorithm.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381750" y="4278659"/>
            <a:ext cx="52292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Prediction: Alpha-Beta will allow for deeper search depths within the same time limit by eliminating non-optimal branches.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PROBLEM &amp; HYPOTHESIS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309812"/>
            <a:ext cx="522922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2319337"/>
            <a:ext cx="521017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6381750" y="2233612"/>
            <a:ext cx="549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NegMax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381750" y="2747962"/>
            <a:ext cx="5229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Instead of the usual alternating MinMax tree neg max only uses 1 type of node. The node always maximizes but when the value back up it negates it. This makes the implementation simpler but can only be used when a players score can be interpreted as the opposite of the other players. 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762750" y="4808437"/>
            <a:ext cx="4848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Depth Limit: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Due to the game's complexity (4.5 trillion positions), we implement iterative deepening to a fixed depth.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856062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MinMax </a:t>
            </a:r>
            <a:r>
              <a:rPr b="1" lang="en-US" sz="36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Implementation</a:t>
            </a:r>
            <a:r>
              <a:rPr b="1" lang="en-US" sz="36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AlphaBeta pruning 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30067" r="40621" t="1806"/>
          <a:stretch/>
        </p:blipFill>
        <p:spPr>
          <a:xfrm>
            <a:off x="581025" y="1544400"/>
            <a:ext cx="3484325" cy="439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198825" y="2003162"/>
            <a:ext cx="549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AlphaBeta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198825" y="2517512"/>
            <a:ext cx="52293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 can still use the NegMax idea with AlphaBeta. To do this in the recursive call we negate both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Alpha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and beta so it looks something like this: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-alphabeta(-beta, -alpha, next_posistion)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Slight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optimization was done by starting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search in the middle of the tree and then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going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outwards 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8"/>
          <p:cNvPicPr preferRelativeResize="0"/>
          <p:nvPr/>
        </p:nvPicPr>
        <p:blipFill rotWithShape="1">
          <a:blip r:embed="rId3">
            <a:alphaModFix/>
          </a:blip>
          <a:srcRect b="38823" l="0" r="0" t="8406"/>
          <a:stretch/>
        </p:blipFill>
        <p:spPr>
          <a:xfrm>
            <a:off x="6087375" y="2895600"/>
            <a:ext cx="5523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581025" y="1619250"/>
            <a:ext cx="5181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EVALUATING LEAF NODES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581025" y="2133600"/>
            <a:ext cx="493484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When the search reaches the depth limit, we calculate a score based on the board state: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6259316" y="2972395"/>
            <a:ext cx="51797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SCORING FORMULA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962025" y="2895600"/>
            <a:ext cx="455384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Center Control: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Higher weight given to the center column (more potential connections).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962025" y="3733800"/>
            <a:ext cx="4553842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Window Evaluation: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We scan 4-slot windows across the board:</a:t>
            </a:r>
            <a:endParaRPr/>
          </a:p>
        </p:txBody>
      </p:sp>
      <p:pic>
        <p:nvPicPr>
          <p:cNvPr descr="image.png" id="146" name="Google Shape;1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432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7433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1343025" y="4352925"/>
            <a:ext cx="417284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4 pieces: +100 (Win)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1343025" y="4848225"/>
            <a:ext cx="417284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 pieces + 1 empty: +5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1343025" y="5343525"/>
            <a:ext cx="417284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 pieces + 2 empty: +2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1343025" y="5838825"/>
            <a:ext cx="417284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Opponent 3 pieces: -4 (Block priority)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81025" y="52387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HEURISTIC STRATEGY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81025" y="12192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09812"/>
            <a:ext cx="52292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6381750" y="1738312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INTERACTIVE FEATURES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6381750" y="2252662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Built using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Python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Pygame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our interface provides real-time control and feedback: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6762750" y="3014662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Player Modes: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Toggle P1/P2 between Human and Bot via sidebar.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6762750" y="3814762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Game Control: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Dedicated Pause and Restart buttons for seamless testing.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6762750" y="4614862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Live Heuristics: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dynamic bar showing the AI's evaluation (-2 to +2) for each column.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762750" y="5414962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State Loading: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Dropdown menu to load valid board states from file.</a:t>
            </a:r>
            <a:endParaRPr/>
          </a:p>
        </p:txBody>
      </p:sp>
      <p:pic>
        <p:nvPicPr>
          <p:cNvPr descr="image.png" id="166" name="Google Shape;16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062287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862387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6624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5462587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GUI IMPLEMENTATION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7775" y="1725474"/>
            <a:ext cx="5375724" cy="450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/>
        </p:nvSpPr>
        <p:spPr>
          <a:xfrm>
            <a:off x="580950" y="5870662"/>
            <a:ext cx="11030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Alpha-Beta Pruning evaluates </a:t>
            </a:r>
            <a:r>
              <a:rPr lang="en-US" sz="20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4.56x fewer nodes</a:t>
            </a:r>
            <a:r>
              <a:rPr b="0" lang="en-US" sz="20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than Negamax, proving it successfully eliminates irrelevant branches of the game tree.</a:t>
            </a:r>
            <a:endParaRPr sz="2000"/>
          </a:p>
        </p:txBody>
      </p:sp>
      <p:sp>
        <p:nvSpPr>
          <p:cNvPr id="178" name="Google Shape;178;p20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RESULTS: SEARCH EFFICIENCY</a:t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20" title="nodes_visited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4775" y="1447788"/>
            <a:ext cx="5693950" cy="4270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RESULTS: EXECUTION SPEED</a:t>
            </a:r>
            <a:endParaRPr/>
          </a:p>
        </p:txBody>
      </p:sp>
      <p:sp>
        <p:nvSpPr>
          <p:cNvPr id="187" name="Google Shape;187;p21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21" title="execution_time_comparis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7879" y="1419225"/>
            <a:ext cx="5767734" cy="43258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643850" y="5745025"/>
            <a:ext cx="1145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Alpha-Beta achieves a 4.25x speedup. This efficiency allows the AI to search deeper in the same time Negamax takes for less nodes</a:t>
            </a:r>
            <a:endParaRPr sz="20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RESULTS: N</a:t>
            </a:r>
            <a:r>
              <a:rPr b="1" lang="en-US" sz="36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odes Per Move Over Time</a:t>
            </a:r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581025" y="1276350"/>
            <a:ext cx="110301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22" title="efficiency_over_game_li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5988" y="1436775"/>
            <a:ext cx="6851575" cy="411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760300" y="5688950"/>
            <a:ext cx="11030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The implementation of  Alpha-Beta pruning show significant and consistent improvement vs. the Negamax algorithm</a:t>
            </a:r>
            <a:endParaRPr sz="20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/>
          <p:nvPr/>
        </p:nvSpPr>
        <p:spPr>
          <a:xfrm>
            <a:off x="823088" y="1774988"/>
            <a:ext cx="549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204" name="Google Shape;204;p23"/>
          <p:cNvSpPr txBox="1"/>
          <p:nvPr/>
        </p:nvSpPr>
        <p:spPr>
          <a:xfrm>
            <a:off x="669863" y="1730938"/>
            <a:ext cx="5229300" cy="22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implementation recalculates the score for every board state it finds. This is redundant and adding a cache system such as a transposition </a:t>
            </a:r>
            <a:r>
              <a:rPr lang="en-US" sz="20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table would improve performance.</a:t>
            </a:r>
            <a:endParaRPr sz="20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581013" y="4376950"/>
            <a:ext cx="52293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AI agent will always perform the best possible move, making it’s moves predictable. The lack of randomness makes it possible to beat the bot </a:t>
            </a:r>
            <a:r>
              <a:rPr lang="en-US" sz="20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consistently.</a:t>
            </a:r>
            <a:r>
              <a:rPr lang="en-US" sz="2000">
                <a:solidFill>
                  <a:schemeClr val="lt1"/>
                </a:solidFill>
              </a:rPr>
              <a:t> </a:t>
            </a:r>
            <a:r>
              <a:rPr lang="en-US" sz="2000">
                <a:solidFill>
                  <a:schemeClr val="lt1"/>
                </a:solidFill>
              </a:rPr>
              <a:t> 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LIMITATIONS</a:t>
            </a:r>
            <a:endParaRPr/>
          </a:p>
        </p:txBody>
      </p:sp>
      <p:sp>
        <p:nvSpPr>
          <p:cNvPr id="207" name="Google Shape;207;p23"/>
          <p:cNvSpPr/>
          <p:nvPr/>
        </p:nvSpPr>
        <p:spPr>
          <a:xfrm>
            <a:off x="581025" y="1276350"/>
            <a:ext cx="110301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3702" y="2376449"/>
            <a:ext cx="5103375" cy="285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/>
        </p:nvSpPr>
        <p:spPr>
          <a:xfrm>
            <a:off x="3350688" y="2009150"/>
            <a:ext cx="549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HYPOTHESIS CONFIRMED</a:t>
            </a:r>
            <a:endParaRPr sz="3000"/>
          </a:p>
        </p:txBody>
      </p:sp>
      <p:sp>
        <p:nvSpPr>
          <p:cNvPr id="214" name="Google Shape;214;p24"/>
          <p:cNvSpPr txBox="1"/>
          <p:nvPr/>
        </p:nvSpPr>
        <p:spPr>
          <a:xfrm>
            <a:off x="3481338" y="2716125"/>
            <a:ext cx="5229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data conclusively supports our hypothesis. Alpha-Beta Pruning is not just an optimization; it is essential for a responsive Connect Four AI.</a:t>
            </a:r>
            <a:endParaRPr sz="2000"/>
          </a:p>
        </p:txBody>
      </p:sp>
      <p:sp>
        <p:nvSpPr>
          <p:cNvPr id="215" name="Google Shape;215;p24"/>
          <p:cNvSpPr txBox="1"/>
          <p:nvPr/>
        </p:nvSpPr>
        <p:spPr>
          <a:xfrm>
            <a:off x="3481338" y="4463175"/>
            <a:ext cx="5229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By effectively pruning the search space, we can increase the difficulty and foresight of the bot without degrading the user experience.</a:t>
            </a:r>
            <a:endParaRPr sz="2000"/>
          </a:p>
        </p:txBody>
      </p:sp>
      <p:sp>
        <p:nvSpPr>
          <p:cNvPr id="216" name="Google Shape;216;p24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217" name="Google Shape;217;p24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5"/>
          <p:cNvSpPr txBox="1"/>
          <p:nvPr/>
        </p:nvSpPr>
        <p:spPr>
          <a:xfrm>
            <a:off x="2245518" y="2205037"/>
            <a:ext cx="7700962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24" name="Google Shape;224;p25"/>
          <p:cNvSpPr txBox="1"/>
          <p:nvPr/>
        </p:nvSpPr>
        <p:spPr>
          <a:xfrm>
            <a:off x="2428875" y="3214687"/>
            <a:ext cx="7334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Thank you for your time.</a:t>
            </a:r>
            <a:endParaRPr/>
          </a:p>
        </p:txBody>
      </p:sp>
      <p:sp>
        <p:nvSpPr>
          <p:cNvPr id="225" name="Google Shape;225;p25"/>
          <p:cNvSpPr txBox="1"/>
          <p:nvPr/>
        </p:nvSpPr>
        <p:spPr>
          <a:xfrm>
            <a:off x="2428875" y="3852862"/>
            <a:ext cx="7334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References: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Russell, S., &amp; Norvig, P. (2020). Artificial Intelligence: A Modern Approach.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CSCI 331 Course Materials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Code by Group 8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SOURCES</a:t>
            </a:r>
            <a:endParaRPr/>
          </a:p>
        </p:txBody>
      </p:sp>
      <p:sp>
        <p:nvSpPr>
          <p:cNvPr id="231" name="Google Shape;231;p26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6"/>
          <p:cNvSpPr txBox="1"/>
          <p:nvPr/>
        </p:nvSpPr>
        <p:spPr>
          <a:xfrm>
            <a:off x="581100" y="1436625"/>
            <a:ext cx="11029800" cy="44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“Solving Connect 4: How to Build a Perfect AI.” Solving Connect 4: How to Build a Perfect AI, blog.gamesolver.org/. Accessed 14 Nov. 2025. </a:t>
            </a:r>
            <a:endParaRPr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Allan, Sean. “Connect 4 Game Theory Analysis: Exploring Mathematical Strategies.” SiamMandalay, 24 Apr. 2024, www.siammandalay.com/2024/04/24/connect-4-mathematical-strategy/?srsltid=AfmBOoqhAF7esQ1xM2q-gzV3AqN85u-aUr-MopDz7alOGgsKuG8QZDxS. </a:t>
            </a:r>
            <a:endParaRPr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Way Too Simple. “ How to Win Connect 4 Every Time.” YouTube, YouTube, www.youtube.com/watch?v=v6N0JGmi1W4. Accessed 19 Nov. 2025. </a:t>
            </a:r>
            <a:endParaRPr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Cahn, Lauren. “How to Win Connect 4 Every Time, According to the Computer Scientist Who Solved It.” Reader’s Digest, 18 July 2025, www.rd.com/article/how-to-win-connect-4/. </a:t>
            </a:r>
            <a:endParaRPr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